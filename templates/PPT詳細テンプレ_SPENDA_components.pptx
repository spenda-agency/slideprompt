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Noto Sans"/>
      <p:bold r:id="rId23"/>
      <p:boldItalic r:id="rId24"/>
    </p:embeddedFont>
    <p:embeddedFont>
      <p:font typeface="Noto Sans JP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63651B-7C21-4498-9585-6312A9F76409}">
  <a:tblStyle styleId="{5463651B-7C21-4498-9585-6312A9F764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otoSansJP-bold.fntdata"/><Relationship Id="rId25" Type="http://schemas.openxmlformats.org/officeDocument/2006/relationships/font" Target="fonts/NotoSansJP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60" y="6329996"/>
            <a:ext cx="548700" cy="30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311700" y="1536633"/>
            <a:ext cx="85206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25627" l="25" r="30" t="-397"/>
          <a:stretch/>
        </p:blipFill>
        <p:spPr>
          <a:xfrm>
            <a:off x="-19050" y="6668464"/>
            <a:ext cx="9160611" cy="18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" y="6668464"/>
            <a:ext cx="2733039" cy="18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ja-JP" sz="750" u="none" cap="none" strike="noStrike">
                <a:solidFill>
                  <a:srgbClr val="6F9FD6"/>
                </a:solidFill>
                <a:latin typeface="Arial"/>
                <a:ea typeface="Arial"/>
                <a:cs typeface="Arial"/>
                <a:sym typeface="Arial"/>
              </a:rPr>
              <a:t>　　　Copyright (C) SPENDA, All Rights Reserved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25627" l="25" r="30" t="-397"/>
          <a:stretch/>
        </p:blipFill>
        <p:spPr>
          <a:xfrm>
            <a:off x="-11847" y="-9612"/>
            <a:ext cx="9160611" cy="43431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hasCustomPrompt="1" type="title"/>
          </p:nvPr>
        </p:nvSpPr>
        <p:spPr>
          <a:xfrm>
            <a:off x="311700" y="2629706"/>
            <a:ext cx="8520600" cy="14631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9pPr>
          </a:lstStyle>
          <a:p>
            <a:r>
              <a:t>xx%</a:t>
            </a:r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4202967"/>
            <a:ext cx="85206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60" y="6329996"/>
            <a:ext cx="548700" cy="30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8"/>
            <a:ext cx="8520600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60" y="6329996"/>
            <a:ext cx="548700" cy="30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69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818728" w="1091638">
                <a:moveTo>
                  <a:pt x="0" y="0"/>
                </a:moveTo>
                <a:lnTo>
                  <a:pt x="1091638" y="0"/>
                </a:lnTo>
                <a:lnTo>
                  <a:pt x="1091638" y="818728"/>
                </a:lnTo>
                <a:lnTo>
                  <a:pt x="0" y="818728"/>
                </a:lnTo>
                <a:close/>
              </a:path>
            </a:pathLst>
          </a:custGeom>
          <a:blipFill rotWithShape="1">
            <a:blip r:embed="rId3">
              <a:alphaModFix amt="9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7620595" y="6545581"/>
            <a:ext cx="1409105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© 2026 SPENDA Inc.</a:t>
            </a:r>
            <a:endParaRPr/>
          </a:p>
        </p:txBody>
      </p:sp>
      <p:grpSp>
        <p:nvGrpSpPr>
          <p:cNvPr id="29" name="Google Shape;29;p5"/>
          <p:cNvGrpSpPr/>
          <p:nvPr/>
        </p:nvGrpSpPr>
        <p:grpSpPr>
          <a:xfrm>
            <a:off x="7279291" y="5825039"/>
            <a:ext cx="1864709" cy="612915"/>
            <a:chOff x="0" y="-38100"/>
            <a:chExt cx="736675" cy="242140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736675" cy="204040"/>
            </a:xfrm>
            <a:custGeom>
              <a:rect b="b" l="l" r="r" t="t"/>
              <a:pathLst>
                <a:path extrusionOk="0" h="204040" w="736675">
                  <a:moveTo>
                    <a:pt x="0" y="0"/>
                  </a:moveTo>
                  <a:lnTo>
                    <a:pt x="736675" y="0"/>
                  </a:lnTo>
                  <a:lnTo>
                    <a:pt x="736675" y="204040"/>
                  </a:lnTo>
                  <a:lnTo>
                    <a:pt x="0" y="204040"/>
                  </a:lnTo>
                  <a:close/>
                </a:path>
              </a:pathLst>
            </a:custGeom>
            <a:solidFill>
              <a:srgbClr val="FDFDFC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"/>
            <p:cNvSpPr txBox="1"/>
            <p:nvPr/>
          </p:nvSpPr>
          <p:spPr>
            <a:xfrm>
              <a:off x="0" y="-38100"/>
              <a:ext cx="736675" cy="242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787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5"/>
          <p:cNvSpPr/>
          <p:nvPr/>
        </p:nvSpPr>
        <p:spPr>
          <a:xfrm>
            <a:off x="7388259" y="6010781"/>
            <a:ext cx="404018" cy="337869"/>
          </a:xfrm>
          <a:custGeom>
            <a:rect b="b" l="l" r="r" t="t"/>
            <a:pathLst>
              <a:path extrusionOk="0" h="375410" w="448909">
                <a:moveTo>
                  <a:pt x="0" y="0"/>
                </a:moveTo>
                <a:lnTo>
                  <a:pt x="448909" y="0"/>
                </a:lnTo>
                <a:lnTo>
                  <a:pt x="448909" y="375410"/>
                </a:lnTo>
                <a:lnTo>
                  <a:pt x="0" y="375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96" l="-11005" r="-5503" t="-54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 txBox="1"/>
          <p:nvPr/>
        </p:nvSpPr>
        <p:spPr>
          <a:xfrm>
            <a:off x="7901245" y="6010781"/>
            <a:ext cx="1065742" cy="293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17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SPENDA</a:t>
            </a:r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>
            <a:off x="0" y="1025535"/>
            <a:ext cx="6693408" cy="3885069"/>
            <a:chOff x="0" y="-38100"/>
            <a:chExt cx="2644309" cy="1534842"/>
          </a:xfrm>
        </p:grpSpPr>
        <p:sp>
          <p:nvSpPr>
            <p:cNvPr id="35" name="Google Shape;35;p5"/>
            <p:cNvSpPr/>
            <p:nvPr/>
          </p:nvSpPr>
          <p:spPr>
            <a:xfrm>
              <a:off x="0" y="0"/>
              <a:ext cx="2644309" cy="1496742"/>
            </a:xfrm>
            <a:custGeom>
              <a:rect b="b" l="l" r="r" t="t"/>
              <a:pathLst>
                <a:path extrusionOk="0" h="1496742" w="2644309">
                  <a:moveTo>
                    <a:pt x="0" y="0"/>
                  </a:moveTo>
                  <a:lnTo>
                    <a:pt x="2644309" y="0"/>
                  </a:lnTo>
                  <a:lnTo>
                    <a:pt x="2644309" y="1496742"/>
                  </a:lnTo>
                  <a:lnTo>
                    <a:pt x="0" y="1496742"/>
                  </a:lnTo>
                  <a:close/>
                </a:path>
              </a:pathLst>
            </a:custGeom>
            <a:solidFill>
              <a:srgbClr val="FDFDF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"/>
            <p:cNvSpPr txBox="1"/>
            <p:nvPr/>
          </p:nvSpPr>
          <p:spPr>
            <a:xfrm>
              <a:off x="0" y="-38100"/>
              <a:ext cx="2644309" cy="1534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787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5"/>
          <p:cNvSpPr txBox="1"/>
          <p:nvPr/>
        </p:nvSpPr>
        <p:spPr>
          <a:xfrm>
            <a:off x="790344" y="3797358"/>
            <a:ext cx="3553057" cy="586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Company overview </a:t>
            </a:r>
            <a:endParaRPr/>
          </a:p>
          <a:p>
            <a:pPr indent="0" lvl="0" marL="0" marR="0" rtl="0" algn="l">
              <a:lnSpc>
                <a:spcPct val="169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 &amp; Service contents</a:t>
            </a:r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457200" y="3685295"/>
            <a:ext cx="197506" cy="792457"/>
            <a:chOff x="0" y="-38100"/>
            <a:chExt cx="78027" cy="313069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78027" cy="274969"/>
            </a:xfrm>
            <a:custGeom>
              <a:rect b="b" l="l" r="r" t="t"/>
              <a:pathLst>
                <a:path extrusionOk="0" h="274969" w="78027">
                  <a:moveTo>
                    <a:pt x="0" y="0"/>
                  </a:moveTo>
                  <a:lnTo>
                    <a:pt x="78027" y="0"/>
                  </a:lnTo>
                  <a:lnTo>
                    <a:pt x="78027" y="274969"/>
                  </a:lnTo>
                  <a:lnTo>
                    <a:pt x="0" y="274969"/>
                  </a:lnTo>
                  <a:close/>
                </a:path>
              </a:pathLst>
            </a:custGeom>
            <a:solidFill>
              <a:srgbClr val="262C7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"/>
            <p:cNvSpPr txBox="1"/>
            <p:nvPr/>
          </p:nvSpPr>
          <p:spPr>
            <a:xfrm>
              <a:off x="0" y="-38100"/>
              <a:ext cx="78027" cy="313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787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5"/>
          <p:cNvSpPr txBox="1"/>
          <p:nvPr/>
        </p:nvSpPr>
        <p:spPr>
          <a:xfrm>
            <a:off x="457200" y="1755083"/>
            <a:ext cx="4028004" cy="137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964" u="none" cap="none" strike="noStrike">
                <a:solidFill>
                  <a:srgbClr val="FDFDFC"/>
                </a:solidFill>
                <a:latin typeface="Noto Sans JP"/>
                <a:ea typeface="Noto Sans JP"/>
                <a:cs typeface="Noto Sans JP"/>
                <a:sym typeface="Noto Sans JP"/>
              </a:rPr>
              <a:t>会社概要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964" u="none" cap="none" strike="noStrike">
                <a:solidFill>
                  <a:srgbClr val="FDFDFC"/>
                </a:solidFill>
                <a:latin typeface="Noto Sans JP"/>
                <a:ea typeface="Noto Sans JP"/>
                <a:cs typeface="Noto Sans JP"/>
                <a:sym typeface="Noto Sans JP"/>
              </a:rPr>
              <a:t>サービス内容資料</a:t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 rot="10800000">
            <a:off x="4203954" y="1387036"/>
            <a:ext cx="2235708" cy="2743200"/>
          </a:xfrm>
          <a:custGeom>
            <a:rect b="b" l="l" r="r" t="t"/>
            <a:pathLst>
              <a:path extrusionOk="0" h="2286000" w="1863090">
                <a:moveTo>
                  <a:pt x="186309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1863090" y="0"/>
                </a:lnTo>
                <a:lnTo>
                  <a:pt x="1863090" y="22860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457200" y="1290000"/>
            <a:ext cx="59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5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〇〇株式会社 御中</a:t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457200" y="5150000"/>
            <a:ext cx="6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2026年10月｜株式会社SPENDA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818728" w="1091638">
                <a:moveTo>
                  <a:pt x="0" y="0"/>
                </a:moveTo>
                <a:lnTo>
                  <a:pt x="1091638" y="0"/>
                </a:lnTo>
                <a:lnTo>
                  <a:pt x="1091638" y="818728"/>
                </a:lnTo>
                <a:lnTo>
                  <a:pt x="0" y="818728"/>
                </a:lnTo>
                <a:close/>
              </a:path>
            </a:pathLst>
          </a:custGeom>
          <a:blipFill rotWithShape="1">
            <a:blip r:embed="rId3">
              <a:alphaModFix amt="9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7620595" y="6545581"/>
            <a:ext cx="1409105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© 2026 SPENDA Inc.</a:t>
            </a:r>
            <a:endParaRPr/>
          </a:p>
        </p:txBody>
      </p:sp>
      <p:grpSp>
        <p:nvGrpSpPr>
          <p:cNvPr id="51" name="Google Shape;51;p6"/>
          <p:cNvGrpSpPr/>
          <p:nvPr/>
        </p:nvGrpSpPr>
        <p:grpSpPr>
          <a:xfrm>
            <a:off x="7279291" y="5825039"/>
            <a:ext cx="1864709" cy="612915"/>
            <a:chOff x="0" y="-38100"/>
            <a:chExt cx="736675" cy="242140"/>
          </a:xfrm>
        </p:grpSpPr>
        <p:sp>
          <p:nvSpPr>
            <p:cNvPr id="52" name="Google Shape;52;p6"/>
            <p:cNvSpPr/>
            <p:nvPr/>
          </p:nvSpPr>
          <p:spPr>
            <a:xfrm>
              <a:off x="0" y="0"/>
              <a:ext cx="736675" cy="204040"/>
            </a:xfrm>
            <a:custGeom>
              <a:rect b="b" l="l" r="r" t="t"/>
              <a:pathLst>
                <a:path extrusionOk="0" h="204040" w="736675">
                  <a:moveTo>
                    <a:pt x="0" y="0"/>
                  </a:moveTo>
                  <a:lnTo>
                    <a:pt x="736675" y="0"/>
                  </a:lnTo>
                  <a:lnTo>
                    <a:pt x="736675" y="204040"/>
                  </a:lnTo>
                  <a:lnTo>
                    <a:pt x="0" y="204040"/>
                  </a:lnTo>
                  <a:close/>
                </a:path>
              </a:pathLst>
            </a:custGeom>
            <a:solidFill>
              <a:srgbClr val="FDFDFC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6"/>
            <p:cNvSpPr txBox="1"/>
            <p:nvPr/>
          </p:nvSpPr>
          <p:spPr>
            <a:xfrm>
              <a:off x="0" y="-38100"/>
              <a:ext cx="736675" cy="242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787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6"/>
          <p:cNvSpPr/>
          <p:nvPr/>
        </p:nvSpPr>
        <p:spPr>
          <a:xfrm>
            <a:off x="7388259" y="6010781"/>
            <a:ext cx="404018" cy="337869"/>
          </a:xfrm>
          <a:custGeom>
            <a:rect b="b" l="l" r="r" t="t"/>
            <a:pathLst>
              <a:path extrusionOk="0" h="375410" w="448909">
                <a:moveTo>
                  <a:pt x="0" y="0"/>
                </a:moveTo>
                <a:lnTo>
                  <a:pt x="448909" y="0"/>
                </a:lnTo>
                <a:lnTo>
                  <a:pt x="448909" y="375410"/>
                </a:lnTo>
                <a:lnTo>
                  <a:pt x="0" y="375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96" l="-11005" r="-5503" t="-54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7901245" y="6010781"/>
            <a:ext cx="1065742" cy="293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17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SPENDA</a:t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0" y="2300000"/>
            <a:ext cx="6693408" cy="190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457200" y="2450000"/>
            <a:ext cx="13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5400" u="none" cap="none" strike="noStrike">
                <a:solidFill>
                  <a:srgbClr val="6F9FD6"/>
                </a:solidFill>
                <a:latin typeface="Noto Sans JP"/>
                <a:ea typeface="Noto Sans JP"/>
                <a:cs typeface="Noto Sans JP"/>
                <a:sym typeface="Noto Sans JP"/>
              </a:rPr>
              <a:t>01</a:t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750000" y="2600000"/>
            <a:ext cx="22860" cy="1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1950000" y="2500000"/>
            <a:ext cx="4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0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章タイトル</a:t>
            </a:r>
            <a:endParaRPr/>
          </a:p>
        </p:txBody>
      </p:sp>
      <p:sp>
        <p:nvSpPr>
          <p:cNvPr id="60" name="Google Shape;60;p6"/>
          <p:cNvSpPr txBox="1"/>
          <p:nvPr/>
        </p:nvSpPr>
        <p:spPr>
          <a:xfrm>
            <a:off x="1950000" y="3300000"/>
            <a:ext cx="46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Chapter subtitle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本日お話しすること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本日のアジェンダ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リード文（任意・40字以内）</a:t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457200" y="1760000"/>
            <a:ext cx="56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1177200" y="1760000"/>
            <a:ext cx="3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項目タイトル1</a:t>
            </a:r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4557200" y="1760000"/>
            <a:ext cx="412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補足説明（30字以内）</a:t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457200" y="24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57200" y="2520000"/>
            <a:ext cx="56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1177200" y="2520000"/>
            <a:ext cx="3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項目タイトル2</a:t>
            </a:r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4557200" y="2520000"/>
            <a:ext cx="412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補足説明（30字以内）</a:t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457200" y="316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57200" y="3280000"/>
            <a:ext cx="56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1177200" y="3280000"/>
            <a:ext cx="3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項目タイトル3</a:t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4557200" y="3280000"/>
            <a:ext cx="412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補足説明（30字以内）</a:t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57200" y="392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4040000"/>
            <a:ext cx="56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1177200" y="4040000"/>
            <a:ext cx="3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項目タイトル4</a:t>
            </a:r>
            <a:endParaRPr/>
          </a:p>
        </p:txBody>
      </p:sp>
      <p:sp>
        <p:nvSpPr>
          <p:cNvPr id="83" name="Google Shape;83;p7"/>
          <p:cNvSpPr txBox="1"/>
          <p:nvPr/>
        </p:nvSpPr>
        <p:spPr>
          <a:xfrm>
            <a:off x="4557200" y="4040000"/>
            <a:ext cx="412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補足説明（30字以内）</a:t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57200" y="468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4800000"/>
            <a:ext cx="56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1177200" y="4800000"/>
            <a:ext cx="3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項目タイトル5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4557200" y="4800000"/>
            <a:ext cx="412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補足説明（30字以内）</a:t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457200" y="544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57200" y="5560000"/>
            <a:ext cx="56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1177200" y="5560000"/>
            <a:ext cx="3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項目タイトル6</a:t>
            </a:r>
            <a:endParaRPr/>
          </a:p>
        </p:txBody>
      </p:sp>
      <p:sp>
        <p:nvSpPr>
          <p:cNvPr id="91" name="Google Shape;91;p7"/>
          <p:cNvSpPr txBox="1"/>
          <p:nvPr/>
        </p:nvSpPr>
        <p:spPr>
          <a:xfrm>
            <a:off x="4557200" y="5560000"/>
            <a:ext cx="412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補足説明（30字以内）</a:t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457200" y="62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1枚で伝えたい主張</a:t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キーメッセージ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457200" y="2050000"/>
            <a:ext cx="8229600" cy="230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57200" y="2050000"/>
            <a:ext cx="76200" cy="230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757200" y="2050000"/>
            <a:ext cx="7629600" cy="2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最も伝えたい一文を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大きく中央に置く</a:t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457200" y="4550000"/>
            <a:ext cx="82296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補足説明。主張の根拠や前提を2〜3行で添える（120字以内）。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箇条書きスライド</a:t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ご相談内容の整理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1" name="Google Shape;111;p9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リード文：このスライドの結論（50字以内）</a:t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457200" y="1760000"/>
            <a:ext cx="60000" cy="469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657200" y="1760000"/>
            <a:ext cx="8029600" cy="4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23520" lvl="0" marL="2235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1120"/>
              <a:buFont typeface="Arial"/>
              <a:buChar char="●"/>
            </a:pPr>
            <a:r>
              <a:rPr b="0" i="0" lang="ja-JP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箇条書き1行目（**強調**はネイビー太字）</a:t>
            </a:r>
            <a:endParaRPr/>
          </a:p>
          <a:p>
            <a:pPr indent="-223520" lvl="0" marL="2235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1120"/>
              <a:buFont typeface="Arial"/>
              <a:buChar char="●"/>
            </a:pPr>
            <a:r>
              <a:rPr b="0" i="0" lang="ja-JP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箇条書き2行目</a:t>
            </a:r>
            <a:endParaRPr/>
          </a:p>
          <a:p>
            <a:pPr indent="-223520" lvl="0" marL="2235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1120"/>
              <a:buFont typeface="Arial"/>
              <a:buChar char="●"/>
            </a:pPr>
            <a:r>
              <a:rPr b="0" i="0" lang="ja-JP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箇条書き3行目</a:t>
            </a:r>
            <a:endParaRPr/>
          </a:p>
          <a:p>
            <a:pPr indent="-223520" lvl="0" marL="2235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1120"/>
              <a:buFont typeface="Arial"/>
              <a:buChar char="●"/>
            </a:pPr>
            <a:r>
              <a:rPr b="0" i="0" lang="ja-JP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最大7項目・各60字以内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横並びカード（2〜4枚）</a:t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課題の整理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10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457200" y="1760000"/>
            <a:ext cx="1937400" cy="46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57200" y="1760000"/>
            <a:ext cx="1937400" cy="70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 txBox="1"/>
          <p:nvPr/>
        </p:nvSpPr>
        <p:spPr>
          <a:xfrm>
            <a:off x="457200" y="1790000"/>
            <a:ext cx="19374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000" u="none" cap="none" strike="noStrike">
                <a:solidFill>
                  <a:srgbClr val="6F9FD6"/>
                </a:solidFill>
                <a:latin typeface="Arial"/>
                <a:ea typeface="Arial"/>
                <a:cs typeface="Arial"/>
                <a:sym typeface="Arial"/>
              </a:rPr>
              <a:t>POINT 01</a:t>
            </a:r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457200" y="2010000"/>
            <a:ext cx="193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見出し1</a:t>
            </a:r>
            <a:endParaRPr/>
          </a:p>
        </p:txBody>
      </p:sp>
      <p:sp>
        <p:nvSpPr>
          <p:cNvPr id="126" name="Google Shape;126;p10"/>
          <p:cNvSpPr txBox="1"/>
          <p:nvPr/>
        </p:nvSpPr>
        <p:spPr>
          <a:xfrm>
            <a:off x="517200" y="2560000"/>
            <a:ext cx="1817400" cy="3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本文。80字以内で具体的に書く。</a:t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2554600" y="1760000"/>
            <a:ext cx="1937400" cy="46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2554600" y="1760000"/>
            <a:ext cx="1937400" cy="70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2554600" y="1790000"/>
            <a:ext cx="19374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000" u="none" cap="none" strike="noStrike">
                <a:solidFill>
                  <a:srgbClr val="6F9FD6"/>
                </a:solidFill>
                <a:latin typeface="Arial"/>
                <a:ea typeface="Arial"/>
                <a:cs typeface="Arial"/>
                <a:sym typeface="Arial"/>
              </a:rPr>
              <a:t>POINT 02</a:t>
            </a:r>
            <a:endParaRPr/>
          </a:p>
        </p:txBody>
      </p:sp>
      <p:sp>
        <p:nvSpPr>
          <p:cNvPr id="130" name="Google Shape;130;p10"/>
          <p:cNvSpPr txBox="1"/>
          <p:nvPr/>
        </p:nvSpPr>
        <p:spPr>
          <a:xfrm>
            <a:off x="2554600" y="2010000"/>
            <a:ext cx="193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見出し2</a:t>
            </a:r>
            <a:endParaRPr/>
          </a:p>
        </p:txBody>
      </p:sp>
      <p:sp>
        <p:nvSpPr>
          <p:cNvPr id="131" name="Google Shape;131;p10"/>
          <p:cNvSpPr txBox="1"/>
          <p:nvPr/>
        </p:nvSpPr>
        <p:spPr>
          <a:xfrm>
            <a:off x="2614600" y="2560000"/>
            <a:ext cx="1817400" cy="3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本文。80字以内で具体的に書く。</a:t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4652000" y="1760000"/>
            <a:ext cx="1937400" cy="46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4652000" y="1760000"/>
            <a:ext cx="1937400" cy="70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4652000" y="1790000"/>
            <a:ext cx="19374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000" u="none" cap="none" strike="noStrike">
                <a:solidFill>
                  <a:srgbClr val="6F9FD6"/>
                </a:solidFill>
                <a:latin typeface="Arial"/>
                <a:ea typeface="Arial"/>
                <a:cs typeface="Arial"/>
                <a:sym typeface="Arial"/>
              </a:rPr>
              <a:t>POINT 03</a:t>
            </a:r>
            <a:endParaRPr/>
          </a:p>
        </p:txBody>
      </p:sp>
      <p:sp>
        <p:nvSpPr>
          <p:cNvPr id="135" name="Google Shape;135;p10"/>
          <p:cNvSpPr txBox="1"/>
          <p:nvPr/>
        </p:nvSpPr>
        <p:spPr>
          <a:xfrm>
            <a:off x="4652000" y="2010000"/>
            <a:ext cx="193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見出し3</a:t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4712000" y="2560000"/>
            <a:ext cx="1817400" cy="3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本文。80字以内で具体的に書く。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749400" y="1760000"/>
            <a:ext cx="1937400" cy="46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749400" y="1760000"/>
            <a:ext cx="1937400" cy="70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6749400" y="1790000"/>
            <a:ext cx="19374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000" u="none" cap="none" strike="noStrike">
                <a:solidFill>
                  <a:srgbClr val="6F9FD6"/>
                </a:solidFill>
                <a:latin typeface="Arial"/>
                <a:ea typeface="Arial"/>
                <a:cs typeface="Arial"/>
                <a:sym typeface="Arial"/>
              </a:rPr>
              <a:t>POINT 04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6749400" y="2010000"/>
            <a:ext cx="193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見出し4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6809400" y="2560000"/>
            <a:ext cx="1817400" cy="3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本文。80字以内で具体的に書く。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2×2グリッド</a:t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解決の方向性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457200" y="1760000"/>
            <a:ext cx="4014800" cy="2245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607200" y="1880000"/>
            <a:ext cx="7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2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2" name="Google Shape;152;p11"/>
          <p:cNvSpPr txBox="1"/>
          <p:nvPr/>
        </p:nvSpPr>
        <p:spPr>
          <a:xfrm>
            <a:off x="1307200" y="1880000"/>
            <a:ext cx="30148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見出し1</a:t>
            </a:r>
            <a:endParaRPr/>
          </a:p>
        </p:txBody>
      </p:sp>
      <p:sp>
        <p:nvSpPr>
          <p:cNvPr id="153" name="Google Shape;153;p11"/>
          <p:cNvSpPr txBox="1"/>
          <p:nvPr/>
        </p:nvSpPr>
        <p:spPr>
          <a:xfrm>
            <a:off x="607200" y="2460000"/>
            <a:ext cx="3714800" cy="1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本文。70字以内。</a:t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4672000" y="1760000"/>
            <a:ext cx="4014800" cy="2245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4822000" y="1880000"/>
            <a:ext cx="7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2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5522000" y="1880000"/>
            <a:ext cx="30148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見出し2</a:t>
            </a: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4822000" y="2460000"/>
            <a:ext cx="3714800" cy="1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本文。70字以内。</a:t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457200" y="4205000"/>
            <a:ext cx="4014800" cy="2245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607200" y="4325000"/>
            <a:ext cx="7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2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1307200" y="4325000"/>
            <a:ext cx="30148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見出し3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607200" y="4905000"/>
            <a:ext cx="3714800" cy="1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本文。70字以内。</a:t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4672000" y="4205000"/>
            <a:ext cx="4014800" cy="2245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4822000" y="4325000"/>
            <a:ext cx="7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2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5522000" y="4325000"/>
            <a:ext cx="30148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見出し4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4822000" y="4905000"/>
            <a:ext cx="3714800" cy="1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本文。70字以内。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Before / After 比較</a:t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導入イメージ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3" name="Google Shape;173;p12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457200" y="1760000"/>
            <a:ext cx="3700000" cy="46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57200" y="1760000"/>
            <a:ext cx="3700000" cy="560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457200" y="176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現状（Before）</a:t>
            </a:r>
            <a:endParaRPr/>
          </a:p>
        </p:txBody>
      </p:sp>
      <p:sp>
        <p:nvSpPr>
          <p:cNvPr id="177" name="Google Shape;177;p12"/>
          <p:cNvSpPr txBox="1"/>
          <p:nvPr/>
        </p:nvSpPr>
        <p:spPr>
          <a:xfrm>
            <a:off x="577200" y="2440000"/>
            <a:ext cx="3460000" cy="3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5580" lvl="0" marL="1955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980"/>
              <a:buFont typeface="Arial"/>
              <a:buChar char="●"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現状の課題1</a:t>
            </a:r>
            <a:endParaRPr/>
          </a:p>
          <a:p>
            <a:pPr indent="-195580" lvl="0" marL="1955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980"/>
              <a:buFont typeface="Arial"/>
              <a:buChar char="●"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現状の課題2</a:t>
            </a:r>
            <a:endParaRPr/>
          </a:p>
          <a:p>
            <a:pPr indent="-195580" lvl="0" marL="1955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980"/>
              <a:buFont typeface="Arial"/>
              <a:buChar char="●"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最大6項目</a:t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4277200" y="3805000"/>
            <a:ext cx="590000" cy="600000"/>
          </a:xfrm>
          <a:prstGeom prst="chevron">
            <a:avLst>
              <a:gd fmla="val 50000" name="adj"/>
            </a:avLst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986800" y="1760000"/>
            <a:ext cx="3700000" cy="4690000"/>
          </a:xfrm>
          <a:prstGeom prst="rect">
            <a:avLst/>
          </a:prstGeom>
          <a:solidFill>
            <a:srgbClr val="E8F3FD"/>
          </a:solidFill>
          <a:ln cap="flat" cmpd="sng" w="9525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986800" y="1760000"/>
            <a:ext cx="3700000" cy="560000"/>
          </a:xfrm>
          <a:prstGeom prst="rect">
            <a:avLst/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4986800" y="176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導入後（After）</a:t>
            </a: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5106800" y="2440000"/>
            <a:ext cx="3460000" cy="3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5580" lvl="0" marL="1955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980"/>
              <a:buFont typeface="Arial"/>
              <a:buChar char="●"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実現できる姿1</a:t>
            </a:r>
            <a:endParaRPr/>
          </a:p>
          <a:p>
            <a:pPr indent="-195580" lvl="0" marL="1955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980"/>
              <a:buFont typeface="Arial"/>
              <a:buChar char="●"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実現できる姿2</a:t>
            </a:r>
            <a:endParaRPr/>
          </a:p>
          <a:p>
            <a:pPr indent="-195580" lvl="0" marL="1955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F9FD6"/>
              </a:buClr>
              <a:buSzPts val="980"/>
              <a:buFont typeface="Arial"/>
              <a:buChar char="●"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最大6項目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ステップ（2〜5）</a:t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進め方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457200" y="1760000"/>
            <a:ext cx="1597920" cy="620000"/>
          </a:xfrm>
          <a:prstGeom prst="homePlate">
            <a:avLst>
              <a:gd fmla="val 50000" name="adj"/>
            </a:avLst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577200" y="1760000"/>
            <a:ext cx="135792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457200" y="2500000"/>
            <a:ext cx="1537920" cy="395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507200" y="2560000"/>
            <a:ext cx="14379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フェーズ名1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507200" y="3140000"/>
            <a:ext cx="14379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約1ヶ月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507200" y="3510000"/>
            <a:ext cx="1437920" cy="2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実施内容。60字以内。</a:t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2115120" y="1760000"/>
            <a:ext cx="1597920" cy="620000"/>
          </a:xfrm>
          <a:prstGeom prst="chevron">
            <a:avLst>
              <a:gd fmla="val 50000" name="adj"/>
            </a:avLst>
          </a:prstGeom>
          <a:solidFill>
            <a:srgbClr val="2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2235120" y="1760000"/>
            <a:ext cx="135792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2115120" y="2500000"/>
            <a:ext cx="1537920" cy="395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2165120" y="2560000"/>
            <a:ext cx="14379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フェーズ名2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2165120" y="3140000"/>
            <a:ext cx="14379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約1ヶ月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2165120" y="3510000"/>
            <a:ext cx="1437920" cy="2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実施内容。60字以内。</a:t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3773040" y="1760000"/>
            <a:ext cx="1597920" cy="620000"/>
          </a:xfrm>
          <a:prstGeom prst="chevron">
            <a:avLst>
              <a:gd fmla="val 50000" name="adj"/>
            </a:avLst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3893040" y="1760000"/>
            <a:ext cx="135792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3773040" y="2500000"/>
            <a:ext cx="1537920" cy="395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3823040" y="2560000"/>
            <a:ext cx="14379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フェーズ名3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3823040" y="3140000"/>
            <a:ext cx="14379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約1ヶ月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3823040" y="3510000"/>
            <a:ext cx="1437920" cy="2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実施内容。60字以内。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5430960" y="1760000"/>
            <a:ext cx="1597920" cy="620000"/>
          </a:xfrm>
          <a:prstGeom prst="chevron">
            <a:avLst>
              <a:gd fmla="val 50000" name="adj"/>
            </a:avLst>
          </a:prstGeom>
          <a:solidFill>
            <a:srgbClr val="2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5550960" y="1760000"/>
            <a:ext cx="135792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5430960" y="2500000"/>
            <a:ext cx="1537920" cy="395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5480960" y="2560000"/>
            <a:ext cx="14379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フェーズ名4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5480960" y="3140000"/>
            <a:ext cx="14379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約1ヶ月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5480960" y="3510000"/>
            <a:ext cx="1437920" cy="2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実施内容。60字以内。</a:t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7088880" y="1760000"/>
            <a:ext cx="1597920" cy="620000"/>
          </a:xfrm>
          <a:prstGeom prst="chevron">
            <a:avLst>
              <a:gd fmla="val 50000" name="adj"/>
            </a:avLst>
          </a:prstGeom>
          <a:solidFill>
            <a:srgbClr val="262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7208880" y="1760000"/>
            <a:ext cx="135792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7088880" y="2500000"/>
            <a:ext cx="1537920" cy="395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7138880" y="2560000"/>
            <a:ext cx="14379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フェーズ名5</a:t>
            </a:r>
            <a:endParaRPr/>
          </a:p>
        </p:txBody>
      </p:sp>
      <p:sp>
        <p:nvSpPr>
          <p:cNvPr id="219" name="Google Shape;219;p13"/>
          <p:cNvSpPr txBox="1"/>
          <p:nvPr/>
        </p:nvSpPr>
        <p:spPr>
          <a:xfrm>
            <a:off x="7138880" y="3140000"/>
            <a:ext cx="14379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約1ヶ月</a:t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7138880" y="3510000"/>
            <a:ext cx="1437920" cy="2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実施内容。60字以内。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表（最大5列×8行）</a:t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前提・要件整理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graphicFrame>
        <p:nvGraphicFramePr>
          <p:cNvPr id="229" name="Google Shape;229;p14"/>
          <p:cNvGraphicFramePr/>
          <p:nvPr/>
        </p:nvGraphicFramePr>
        <p:xfrm>
          <a:off x="457200" y="17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{5463651B-7C21-4498-9585-6312A9F76409}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見出し1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見出し2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見出し3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見出し4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C7B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 u="none" cap="none" strike="noStrike">
                          <a:solidFill>
                            <a:srgbClr val="262C7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行ラベル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 u="none" cap="none" strike="noStrike">
                          <a:solidFill>
                            <a:srgbClr val="262C7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行ラベル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 u="none" cap="none" strike="noStrike">
                          <a:solidFill>
                            <a:srgbClr val="262C7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行ラベル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 u="none" cap="none" strike="noStrike">
                          <a:solidFill>
                            <a:srgbClr val="262C7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行ラベル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 u="none" cap="none" strike="noStrike">
                          <a:solidFill>
                            <a:srgbClr val="262C7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行ラベル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ja-JP" sz="12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セル</a:t>
                      </a:r>
                      <a:endParaRPr/>
                    </a:p>
                  </a:txBody>
                  <a:tcPr marT="40000" marB="40000" marR="80000" marL="80000" anchor="ctr">
                    <a:lnL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14"/>
          <p:cNvSpPr txBox="1"/>
          <p:nvPr/>
        </p:nvSpPr>
        <p:spPr>
          <a:xfrm>
            <a:off x="457200" y="6150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注記（任意）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ロードマップ（期間×タスク）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スケジュール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2357200" y="1760000"/>
            <a:ext cx="1034933" cy="42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1月</a:t>
            </a: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3402133" y="2180000"/>
            <a:ext cx="9525" cy="4270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3412133" y="1760000"/>
            <a:ext cx="1034933" cy="42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2月</a:t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4457066" y="2180000"/>
            <a:ext cx="9525" cy="4270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467066" y="1760000"/>
            <a:ext cx="1034933" cy="42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3月</a:t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5511999" y="2180000"/>
            <a:ext cx="9525" cy="4270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5521999" y="1760000"/>
            <a:ext cx="1034933" cy="42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4月</a:t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6566932" y="2180000"/>
            <a:ext cx="9525" cy="4270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576932" y="1760000"/>
            <a:ext cx="1034933" cy="42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5月</a:t>
            </a: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7621865" y="2180000"/>
            <a:ext cx="9525" cy="4270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7631865" y="1760000"/>
            <a:ext cx="1034933" cy="42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6月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8676798" y="2180000"/>
            <a:ext cx="9525" cy="4270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457200" y="2280000"/>
            <a:ext cx="182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タスク1</a:t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2377200" y="2390000"/>
            <a:ext cx="2069866" cy="420000"/>
          </a:xfrm>
          <a:prstGeom prst="roundRect">
            <a:avLst>
              <a:gd fmla="val 50000" name="adj"/>
            </a:avLst>
          </a:prstGeom>
          <a:solidFill>
            <a:srgbClr val="2B5FD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内容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457200" y="298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457200" y="3040000"/>
            <a:ext cx="182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タスク2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2377200" y="3150000"/>
            <a:ext cx="2069866" cy="420000"/>
          </a:xfrm>
          <a:prstGeom prst="roundRect">
            <a:avLst>
              <a:gd fmla="val 50000" name="adj"/>
            </a:avLst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内容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457200" y="374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457200" y="3800000"/>
            <a:ext cx="182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タスク3</a:t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2377200" y="3910000"/>
            <a:ext cx="2069866" cy="420000"/>
          </a:xfrm>
          <a:prstGeom prst="roundRect">
            <a:avLst>
              <a:gd fmla="val 50000" name="adj"/>
            </a:avLst>
          </a:prstGeom>
          <a:solidFill>
            <a:srgbClr val="2B5FD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内容</a:t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457200" y="45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457200" y="4560000"/>
            <a:ext cx="182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タスク4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2377200" y="4670000"/>
            <a:ext cx="2069866" cy="420000"/>
          </a:xfrm>
          <a:prstGeom prst="roundRect">
            <a:avLst>
              <a:gd fmla="val 50000" name="adj"/>
            </a:avLst>
          </a:prstGeom>
          <a:solidFill>
            <a:srgbClr val="262C7B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内容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457200" y="526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457200" y="5320000"/>
            <a:ext cx="182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タスク5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2377200" y="5430000"/>
            <a:ext cx="2069866" cy="420000"/>
          </a:xfrm>
          <a:prstGeom prst="roundRect">
            <a:avLst>
              <a:gd fmla="val 50000" name="adj"/>
            </a:avLst>
          </a:prstGeom>
          <a:solidFill>
            <a:srgbClr val="2B5FD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内容</a:t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457200" y="602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数値で示す（2〜4）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期待効果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457200" y="1960000"/>
            <a:ext cx="1907400" cy="260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457200" y="2110000"/>
            <a:ext cx="190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指標1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457200" y="2610000"/>
            <a:ext cx="19074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6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▲30%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537200" y="3660000"/>
            <a:ext cx="17474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補足（40字以内）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2564600" y="1960000"/>
            <a:ext cx="1907400" cy="260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2564600" y="2110000"/>
            <a:ext cx="190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指標2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2564600" y="2610000"/>
            <a:ext cx="19074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6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▲30%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2644600" y="3660000"/>
            <a:ext cx="17474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補足（40字以内）</a:t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4672000" y="1960000"/>
            <a:ext cx="1907400" cy="260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4672000" y="2110000"/>
            <a:ext cx="190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指標3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4672000" y="2610000"/>
            <a:ext cx="19074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6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▲30%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4752000" y="3660000"/>
            <a:ext cx="17474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補足（40字以内）</a:t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6779400" y="1960000"/>
            <a:ext cx="1907400" cy="260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6779400" y="2110000"/>
            <a:ext cx="1907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指標4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6779400" y="2610000"/>
            <a:ext cx="19074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6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▲30%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6859400" y="3660000"/>
            <a:ext cx="17474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補足（40字以内）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457200" y="4760000"/>
            <a:ext cx="82296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※ 数値の前提・算出根拠を必ず記載（目標値／試算であることを明示）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確認事項チェックリスト</a:t>
            </a: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本日確認したいこと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リード文（50字以内）</a:t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517200" y="191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907200" y="176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確認事項1（40字以内）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6786800" y="187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457200" y="232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517200" y="249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907200" y="234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確認事項2（40字以内）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6786800" y="245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457200" y="29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517200" y="307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907200" y="292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確認事項3（40字以内）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6786800" y="303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457200" y="348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17200" y="365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907200" y="350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確認事項4（40字以内）</a:t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6786800" y="361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457200" y="406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17200" y="423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907200" y="408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確認事項5（40字以内）</a:t>
            </a:r>
            <a:endParaRPr/>
          </a:p>
        </p:txBody>
      </p:sp>
      <p:sp>
        <p:nvSpPr>
          <p:cNvPr id="317" name="Google Shape;317;p17"/>
          <p:cNvSpPr txBox="1"/>
          <p:nvPr/>
        </p:nvSpPr>
        <p:spPr>
          <a:xfrm>
            <a:off x="6786800" y="419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457200" y="464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517200" y="481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907200" y="466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確認事項6（40字以内）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6786800" y="477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457200" y="522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517200" y="539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907200" y="524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確認事項7（40字以内）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6786800" y="535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457200" y="58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517200" y="5970000"/>
            <a:ext cx="240000" cy="24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62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907200" y="5820000"/>
            <a:ext cx="5779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確認事項8（40字以内）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6786800" y="5930000"/>
            <a:ext cx="19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100" u="none" cap="none" strike="noStrike">
                <a:solidFill>
                  <a:srgbClr val="2B5FD9"/>
                </a:solidFill>
                <a:latin typeface="Arial"/>
                <a:ea typeface="Arial"/>
                <a:cs typeface="Arial"/>
                <a:sym typeface="Arial"/>
              </a:rPr>
              <a:t>区分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457200" y="638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会社概要（項目：内容）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会社紹介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457200" y="146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457200" y="146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項目1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2607200" y="146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457200" y="206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57200" y="210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457200" y="210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項目2</a:t>
            </a:r>
            <a:endParaRPr/>
          </a:p>
        </p:txBody>
      </p:sp>
      <p:sp>
        <p:nvSpPr>
          <p:cNvPr id="344" name="Google Shape;344;p18"/>
          <p:cNvSpPr txBox="1"/>
          <p:nvPr/>
        </p:nvSpPr>
        <p:spPr>
          <a:xfrm>
            <a:off x="2607200" y="210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457200" y="27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57200" y="274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457200" y="274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項目3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2607200" y="274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457200" y="334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457200" y="338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457200" y="338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項目4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2607200" y="338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457200" y="398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57200" y="402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457200" y="402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項目5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2607200" y="402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457200" y="462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457200" y="466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457200" y="466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項目6</a:t>
            </a:r>
            <a:endParaRPr/>
          </a:p>
        </p:txBody>
      </p:sp>
      <p:sp>
        <p:nvSpPr>
          <p:cNvPr id="360" name="Google Shape;360;p18"/>
          <p:cNvSpPr txBox="1"/>
          <p:nvPr/>
        </p:nvSpPr>
        <p:spPr>
          <a:xfrm>
            <a:off x="2607200" y="466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457200" y="526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57200" y="5300000"/>
            <a:ext cx="2000000" cy="560000"/>
          </a:xfrm>
          <a:prstGeom prst="rect">
            <a:avLst/>
          </a:prstGeom>
          <a:solidFill>
            <a:srgbClr val="E8F3FD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 txBox="1"/>
          <p:nvPr/>
        </p:nvSpPr>
        <p:spPr>
          <a:xfrm>
            <a:off x="457200" y="530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項目7</a:t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2607200" y="5300000"/>
            <a:ext cx="60796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内容（60字以内）</a:t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457200" y="5900000"/>
            <a:ext cx="8229600" cy="9525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818728" w="1091638">
                <a:moveTo>
                  <a:pt x="0" y="0"/>
                </a:moveTo>
                <a:lnTo>
                  <a:pt x="1091638" y="0"/>
                </a:lnTo>
                <a:lnTo>
                  <a:pt x="1091638" y="818728"/>
                </a:lnTo>
                <a:lnTo>
                  <a:pt x="0" y="818728"/>
                </a:lnTo>
                <a:close/>
              </a:path>
            </a:pathLst>
          </a:custGeom>
          <a:blipFill rotWithShape="1">
            <a:blip r:embed="rId3">
              <a:alphaModFix amt="9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7620595" y="6545581"/>
            <a:ext cx="1409105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© 2026 SPENDA Inc.</a:t>
            </a:r>
            <a:endParaRPr/>
          </a:p>
        </p:txBody>
      </p:sp>
      <p:grpSp>
        <p:nvGrpSpPr>
          <p:cNvPr id="372" name="Google Shape;372;p19"/>
          <p:cNvGrpSpPr/>
          <p:nvPr/>
        </p:nvGrpSpPr>
        <p:grpSpPr>
          <a:xfrm>
            <a:off x="7279291" y="5825039"/>
            <a:ext cx="1864709" cy="612915"/>
            <a:chOff x="0" y="-38100"/>
            <a:chExt cx="736675" cy="242140"/>
          </a:xfrm>
        </p:grpSpPr>
        <p:sp>
          <p:nvSpPr>
            <p:cNvPr id="373" name="Google Shape;373;p19"/>
            <p:cNvSpPr/>
            <p:nvPr/>
          </p:nvSpPr>
          <p:spPr>
            <a:xfrm>
              <a:off x="0" y="0"/>
              <a:ext cx="736675" cy="204040"/>
            </a:xfrm>
            <a:custGeom>
              <a:rect b="b" l="l" r="r" t="t"/>
              <a:pathLst>
                <a:path extrusionOk="0" h="204040" w="736675">
                  <a:moveTo>
                    <a:pt x="0" y="0"/>
                  </a:moveTo>
                  <a:lnTo>
                    <a:pt x="736675" y="0"/>
                  </a:lnTo>
                  <a:lnTo>
                    <a:pt x="736675" y="204040"/>
                  </a:lnTo>
                  <a:lnTo>
                    <a:pt x="0" y="204040"/>
                  </a:lnTo>
                  <a:close/>
                </a:path>
              </a:pathLst>
            </a:custGeom>
            <a:solidFill>
              <a:srgbClr val="FDFDFC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9"/>
            <p:cNvSpPr txBox="1"/>
            <p:nvPr/>
          </p:nvSpPr>
          <p:spPr>
            <a:xfrm>
              <a:off x="0" y="-38100"/>
              <a:ext cx="736675" cy="242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787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19"/>
          <p:cNvSpPr/>
          <p:nvPr/>
        </p:nvSpPr>
        <p:spPr>
          <a:xfrm>
            <a:off x="7388259" y="6010781"/>
            <a:ext cx="404018" cy="337869"/>
          </a:xfrm>
          <a:custGeom>
            <a:rect b="b" l="l" r="r" t="t"/>
            <a:pathLst>
              <a:path extrusionOk="0" h="375410" w="448909">
                <a:moveTo>
                  <a:pt x="0" y="0"/>
                </a:moveTo>
                <a:lnTo>
                  <a:pt x="448909" y="0"/>
                </a:lnTo>
                <a:lnTo>
                  <a:pt x="448909" y="375410"/>
                </a:lnTo>
                <a:lnTo>
                  <a:pt x="0" y="375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96" l="-11005" r="-5503" t="-54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7901245" y="6010781"/>
            <a:ext cx="1065742" cy="293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817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SPENDA</a:t>
            </a:r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457200" y="2200000"/>
            <a:ext cx="62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0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ご清聴ありがとうございました</a:t>
            </a:r>
            <a:endParaRPr/>
          </a:p>
        </p:txBody>
      </p:sp>
      <p:sp>
        <p:nvSpPr>
          <p:cNvPr id="378" name="Google Shape;378;p19"/>
          <p:cNvSpPr txBox="1"/>
          <p:nvPr/>
        </p:nvSpPr>
        <p:spPr>
          <a:xfrm>
            <a:off x="457200" y="3500000"/>
            <a:ext cx="62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株式会社SPENDA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https://spendacorp.com/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 txBox="1"/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ja-JP" sz="24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自由スライド（タイトルのみ）</a:t>
            </a: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帯ラベル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6" name="Google Shape;386;p20"/>
          <p:cNvSpPr txBox="1"/>
          <p:nvPr/>
        </p:nvSpPr>
        <p:spPr>
          <a:xfrm>
            <a:off x="457200" y="115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rgbClr val="262C7B"/>
                </a:solidFill>
                <a:latin typeface="Arial"/>
                <a:ea typeface="Arial"/>
                <a:cs typeface="Arial"/>
                <a:sym typeface="Arial"/>
              </a:rPr>
              <a:t>リード文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